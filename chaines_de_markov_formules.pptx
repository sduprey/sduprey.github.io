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3A7BD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C9A84C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731520"/>
            <a:ext cx="1828800" cy="1828800"/>
          </a:xfrm>
          <a:prstGeom prst="ellipse">
            <a:avLst/>
          </a:prstGeom>
          <a:solidFill>
            <a:srgbClr val="C9A84C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331720"/>
            <a:ext cx="10972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CHAÎNES DE MARKOV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Récapitulatif — Niveau Agrégation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Définitions · Classification · Comportement asymptotique · Théorèmes limites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3A7BD5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 de Markov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06040" y="4114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C9A84C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4114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Irréductibilité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4114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7855A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4114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Récurrence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4114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8B4EA6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4114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Ergodicité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 &amp; MATRICE DE TRANSITION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118872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7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Propriété de Markov homogène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93192" y="1517904"/>
            <a:ext cx="3877056" cy="22860"/>
          </a:xfrm>
          <a:prstGeom prst="rect">
            <a:avLst/>
          </a:prstGeom>
          <a:solidFill>
            <a:srgbClr val="3A7BD5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93192" y="1572768"/>
            <a:ext cx="3877056" cy="347472"/>
          </a:xfrm>
          <a:prstGeom prst="roundRect">
            <a:avLst>
              <a:gd name="adj" fmla="val 13158"/>
            </a:avLst>
          </a:prstGeom>
          <a:solidFill>
            <a:srgbClr val="3A7BD5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572768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P(Xₙ₊₁ = j | X₀ = i₀, …, Xₙ = i) = pᵢⱼ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975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 = (pᵢⱼ)ᵢ,ⱼ∈E stochastique : pᵢⱼ ≥ 0,  Σⱼ pᵢⱼ =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231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Loi à l'instant n : μₙ = μ₀ Pⁿ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" y="2468880"/>
            <a:ext cx="3877056" cy="384048"/>
          </a:xfrm>
          <a:prstGeom prst="roundRect">
            <a:avLst>
              <a:gd name="adj" fmla="val 11905"/>
            </a:avLst>
          </a:prstGeom>
          <a:solidFill>
            <a:srgbClr val="3A7BD5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" y="2468880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Chapman-Kolmogorov : P^(m+n) = P^m · Pⁿ,  i.e.  pᵢⱼ^(m+n) = Σₖ pᵢₖ^(m) pₖⱼ^(n)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73752" y="118872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7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&amp; communication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73752" y="1517904"/>
            <a:ext cx="3877056" cy="22860"/>
          </a:xfrm>
          <a:prstGeom prst="rect">
            <a:avLst/>
          </a:prstGeom>
          <a:solidFill>
            <a:srgbClr val="27855A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73752" y="1572768"/>
            <a:ext cx="3877056" cy="329184"/>
          </a:xfrm>
          <a:prstGeom prst="roundRect">
            <a:avLst>
              <a:gd name="adj" fmla="val 13889"/>
            </a:avLst>
          </a:prstGeom>
          <a:solidFill>
            <a:srgbClr val="27855A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965192" y="15727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→ j  ⟺  ∃ n ≥ 0 : pᵢⱼ^(n) &gt; 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10328" y="1956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↔ j  (équivalence) si  i → j  et  j → 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0328" y="21945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Chaîne irréductible : E = une seule classe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73752" y="2432304"/>
            <a:ext cx="3877056" cy="329184"/>
          </a:xfrm>
          <a:prstGeom prst="roundRect">
            <a:avLst>
              <a:gd name="adj" fmla="val 13889"/>
            </a:avLst>
          </a:prstGeom>
          <a:solidFill>
            <a:srgbClr val="27855A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2432304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Période : d(i) = pgcd{ n ≥ 1 : pᵢᵢ^(n) &gt; 0 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0328" y="2816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d(i) est constante sur chaque classe de communication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1089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3192" y="320040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Récurrence / Transience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93192" y="3529584"/>
            <a:ext cx="3877056" cy="22860"/>
          </a:xfrm>
          <a:prstGeom prst="rect">
            <a:avLst/>
          </a:prstGeom>
          <a:solidFill>
            <a:srgbClr val="C0392B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3192" y="3584448"/>
            <a:ext cx="3877056" cy="347472"/>
          </a:xfrm>
          <a:prstGeom prst="roundRect">
            <a:avLst>
              <a:gd name="adj" fmla="val 13158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" y="3584448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Tᵢ = inf{ n ≥ 1 : Xₙ = i },   fᵢᵢ = Pᵢ(Tᵢ &lt; ∞)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" y="39867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récurrent  ⟺  fᵢᵢ = 1  ⟺  Σₙ pᵢᵢ^(n) = ∞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9768" y="4224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transitoire  ⟺  fᵢᵢ &lt; 1  ⟺  Σₙ pᵢᵢ^(n) &lt; ∞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93192" y="4462272"/>
            <a:ext cx="3877056" cy="347472"/>
          </a:xfrm>
          <a:prstGeom prst="roundRect">
            <a:avLst>
              <a:gd name="adj" fmla="val 13158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" y="4462272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mᵢ = Eᵢ[Tᵢ] :   rec. positive ⟺ mᵢ &lt; ∞,   rec. nulle ⟺ mᵢ = ∞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9768" y="4864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une classe finie fermée : tous les états sont récurrents positifs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1089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73752" y="320040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4E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Temps d'arrêt &amp; fort Markov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73752" y="3529584"/>
            <a:ext cx="3877056" cy="22860"/>
          </a:xfrm>
          <a:prstGeom prst="rect">
            <a:avLst/>
          </a:prstGeom>
          <a:solidFill>
            <a:srgbClr val="8B4EA6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73752" y="3584448"/>
            <a:ext cx="3877056" cy="347472"/>
          </a:xfrm>
          <a:prstGeom prst="roundRect">
            <a:avLst>
              <a:gd name="adj" fmla="val 13158"/>
            </a:avLst>
          </a:prstGeom>
          <a:solidFill>
            <a:srgbClr val="8B4EA6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965192" y="3584448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temps d'arrêt : { T = n } ∈ σ(X₀,…,Xₙ)  ∀n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10328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 de Markov forte : conditionnellement à {T &lt; ∞, X_T = i},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73752" y="4261104"/>
            <a:ext cx="3877056" cy="329184"/>
          </a:xfrm>
          <a:prstGeom prst="roundRect">
            <a:avLst>
              <a:gd name="adj" fmla="val 13889"/>
            </a:avLst>
          </a:prstGeom>
          <a:solidFill>
            <a:srgbClr val="8B4EA6">
              <a:alpha val="1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965192" y="4261104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(X_{T+n})_{n≥0} est une CM(pᵢⱼ) indép. de ℱ_T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10328" y="4645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Nombre de passages en i : Nᵢ = Σₙ≥1 1_{Xₙ=i}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73752" y="4882896"/>
            <a:ext cx="3877056" cy="329184"/>
          </a:xfrm>
          <a:prstGeom prst="roundRect">
            <a:avLst>
              <a:gd name="adj" fmla="val 13889"/>
            </a:avLst>
          </a:prstGeom>
          <a:solidFill>
            <a:srgbClr val="8B4EA6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965192" y="4882896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Eᵢ[Nᵢ] = fᵢᵢ/(1−fᵢᵢ) si transitoire,   = ∞ si récurrent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 INVARIANTE &amp; CONVERGENCE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9050">
            <a:solidFill>
              <a:srgbClr val="3A7BD5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" cy="411480"/>
          </a:xfrm>
          <a:prstGeom prst="ellipse">
            <a:avLst/>
          </a:prstGeom>
          <a:solidFill>
            <a:srgbClr val="3A7BD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16128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 stationnaire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91056"/>
            <a:ext cx="3931920" cy="22860"/>
          </a:xfrm>
          <a:prstGeom prst="rect">
            <a:avLst/>
          </a:prstGeom>
          <a:solidFill>
            <a:srgbClr val="3A7BD5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" y="1645920"/>
            <a:ext cx="3877056" cy="329184"/>
          </a:xfrm>
          <a:prstGeom prst="roundRect">
            <a:avLst>
              <a:gd name="adj" fmla="val 11111"/>
            </a:avLst>
          </a:prstGeom>
          <a:solidFill>
            <a:srgbClr val="3A7BD5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 stationnaire  ⟺  π P = π,  Σᵢ π(i) =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2020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Irréd. + rec. positive ⟹ ∃! π,  avec π(i) = 1/mᵢ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2258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μ₀ = π alors μₙ = π  ∀n (stationnarité)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24963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de bilan détaillé (réversibilité) 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" y="2715768"/>
            <a:ext cx="3877056" cy="329184"/>
          </a:xfrm>
          <a:prstGeom prst="roundRect">
            <a:avLst>
              <a:gd name="adj" fmla="val 11111"/>
            </a:avLst>
          </a:prstGeom>
          <a:solidFill>
            <a:srgbClr val="3A7BD5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157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π(i) pᵢⱼ = π(j) pⱼᵢ  ∀i,j  ⟹  π stationnaire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051560"/>
            <a:ext cx="42062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9050">
            <a:solidFill>
              <a:srgbClr val="27855A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143000"/>
            <a:ext cx="411480" cy="411480"/>
          </a:xfrm>
          <a:prstGeom prst="ellipse">
            <a:avLst/>
          </a:prstGeom>
          <a:solidFill>
            <a:srgbClr val="27855A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116128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Théorème ergodique de Birkhoff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591056"/>
            <a:ext cx="3931920" cy="22860"/>
          </a:xfrm>
          <a:prstGeom prst="rect">
            <a:avLst/>
          </a:prstGeom>
          <a:solidFill>
            <a:srgbClr val="27855A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16459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irréductible + récurrente positive,  ∀f ∈ L¹(π) 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73752" y="1883664"/>
            <a:ext cx="3877056" cy="365760"/>
          </a:xfrm>
          <a:prstGeom prst="roundRect">
            <a:avLst>
              <a:gd name="adj" fmla="val 10000"/>
            </a:avLst>
          </a:prstGeom>
          <a:solidFill>
            <a:srgbClr val="27855A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8836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(1/n) Σₖ₌₀^{n-1} f(Xₖ)  →  π(f) = Σᵢ π(i) f(i)   Pᵢ-p.s.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10328" y="22951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Pour f = 1_{j} : (1/n) #{k &lt; n : Xₖ = j} → π(j)  p.s.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0328" y="2532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Valable quelle que soit la loi initiale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73752" y="2752344"/>
            <a:ext cx="3877056" cy="329184"/>
          </a:xfrm>
          <a:prstGeom prst="roundRect">
            <a:avLst>
              <a:gd name="adj" fmla="val 11111"/>
            </a:avLst>
          </a:prstGeom>
          <a:solidFill>
            <a:srgbClr val="27855A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7523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∀i : Pᵢ(Xₙ = j  i.o.) = 1  si j récurrent positif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1089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20040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21868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en variation totale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648456"/>
            <a:ext cx="3931920" cy="22860"/>
          </a:xfrm>
          <a:prstGeom prst="rect">
            <a:avLst/>
          </a:prstGeom>
          <a:solidFill>
            <a:srgbClr val="C0392B">
              <a:alpha val="3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" y="37033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irréd. + rec. pos. + apériodique :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93192" y="3941064"/>
            <a:ext cx="3877056" cy="365760"/>
          </a:xfrm>
          <a:prstGeom prst="roundRect">
            <a:avLst>
              <a:gd name="adj" fmla="val 10000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9410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 Pⁿ(i, ·) − π ‖_TV = (1/2) Σⱼ | pᵢⱼ^(n) − π(j) | → 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9768" y="4352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Taux : ρ = max{ |λ| : λ ∈ Spec(P), λ ≠ 1 } &lt; 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" y="45902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Vitesse exponentielle : ‖Pⁿ − π‖ ≤ C ρⁿ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93192" y="4828032"/>
            <a:ext cx="3877056" cy="347472"/>
          </a:xfrm>
          <a:prstGeom prst="roundRect">
            <a:avLst>
              <a:gd name="adj" fmla="val 10526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828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Mixing time : T_mix(ε) = inf{ t : max_i ‖Pᵗ(i,·)−π‖_TV ≤ ε }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1089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4EA6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3200400"/>
            <a:ext cx="411480" cy="411480"/>
          </a:xfrm>
          <a:prstGeom prst="ellipse">
            <a:avLst/>
          </a:prstGeom>
          <a:solidFill>
            <a:srgbClr val="8B4EA6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321868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4E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Théorème central limite markovien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3648456"/>
            <a:ext cx="3931920" cy="22860"/>
          </a:xfrm>
          <a:prstGeom prst="rect">
            <a:avLst/>
          </a:prstGeom>
          <a:solidFill>
            <a:srgbClr val="8B4EA6">
              <a:alpha val="3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910328" y="37033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irréd. + rec. pos. + apériodique,  f ∈ L²(π) :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73752" y="3941064"/>
            <a:ext cx="3877056" cy="365760"/>
          </a:xfrm>
          <a:prstGeom prst="roundRect">
            <a:avLst>
              <a:gd name="adj" fmla="val 10000"/>
            </a:avLst>
          </a:prstGeom>
          <a:solidFill>
            <a:srgbClr val="8B4EA6">
              <a:alpha val="1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39410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(1/√n) Σₖ₌₁ⁿ [f(Xₖ) − π(f)]  →  𝒩(0, σ²(f))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873752" y="4352544"/>
            <a:ext cx="3877056" cy="347472"/>
          </a:xfrm>
          <a:prstGeom prst="roundRect">
            <a:avLst>
              <a:gd name="adj" fmla="val 10526"/>
            </a:avLst>
          </a:prstGeom>
          <a:solidFill>
            <a:srgbClr val="8B4EA6">
              <a:alpha val="1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0" y="4352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σ²(f) = Var_π(f) + 2 Σₙ≥₁ Cov_π(f(X₀), f(Xₙ))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10328" y="47457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⟨f − π(f), (I + P + P² + …)(f − π(f))⟩_π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CRITÈRES DE RÉCURRENCE &amp; EXEMPLES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114300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7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 de Foster-Lyapunov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93192" y="1472184"/>
            <a:ext cx="3877056" cy="22860"/>
          </a:xfrm>
          <a:prstGeom prst="rect">
            <a:avLst/>
          </a:prstGeom>
          <a:solidFill>
            <a:srgbClr val="3A7BD5">
              <a:alpha val="3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527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V : E → [1,∞),  C ⊂ E fini,  ε &gt; 0,  b &lt; ∞ 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" y="1764792"/>
            <a:ext cx="3877056" cy="365760"/>
          </a:xfrm>
          <a:prstGeom prst="roundRect">
            <a:avLst>
              <a:gd name="adj" fmla="val 12500"/>
            </a:avLst>
          </a:prstGeom>
          <a:solidFill>
            <a:srgbClr val="3A7BD5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1764792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PV(i) = Σⱼ pᵢⱼ V(j)  ≤  V(i) − ε + b · 1_C(i)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1854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 récurrence positive + Eᵢ[Tᵢ] ≤ V(i)/ε + b/ε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" y="2423160"/>
            <a:ext cx="3877056" cy="347472"/>
          </a:xfrm>
          <a:prstGeom prst="roundRect">
            <a:avLst>
              <a:gd name="adj" fmla="val 13158"/>
            </a:avLst>
          </a:prstGeom>
          <a:solidFill>
            <a:srgbClr val="3A7BD5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" y="2423160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 ≤ λV + b·1_C avec λ &lt; 1  ⟹  temps de retour géom.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2825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λ &lt; 1 : convergence exponentielle garantie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05156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73752" y="114300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7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Chaîne de naissance-mort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73752" y="1472184"/>
            <a:ext cx="3877056" cy="22860"/>
          </a:xfrm>
          <a:prstGeom prst="rect">
            <a:avLst/>
          </a:prstGeom>
          <a:solidFill>
            <a:srgbClr val="27855A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873752" y="1527048"/>
            <a:ext cx="3877056" cy="347472"/>
          </a:xfrm>
          <a:prstGeom prst="roundRect">
            <a:avLst>
              <a:gd name="adj" fmla="val 13158"/>
            </a:avLst>
          </a:prstGeom>
          <a:solidFill>
            <a:srgbClr val="27855A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65192" y="1527048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pᵢ,ᵢ₊₁ = λᵢ,  pᵢ,ᵢ₋₁ = μᵢ,  pᵢᵢ = 1 − λᵢ − μᵢ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0328" y="19293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invariante (si elle existe) 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73752" y="2148840"/>
            <a:ext cx="3877056" cy="347472"/>
          </a:xfrm>
          <a:prstGeom prst="roundRect">
            <a:avLst>
              <a:gd name="adj" fmla="val 13158"/>
            </a:avLst>
          </a:prstGeom>
          <a:solidFill>
            <a:srgbClr val="27855A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2148840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π(n) = π(0) · (λ₀λ₁⋯λₙ₋₁)/(μ₁μ₂⋯μₙ)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10328" y="25511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Récurrence positive ⟺ Σₙ π(n) &lt; ∞ (normalisable)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10328" y="2788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pur : Σₙ (μ₁⋯μₙ)/(λ₁⋯λₙ) = ∞ ⟺ récurrente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127248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3192" y="321868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Marche aléatoire sur ℤᵈ (théorème de Pólya)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93192" y="3547872"/>
            <a:ext cx="3877056" cy="22860"/>
          </a:xfrm>
          <a:prstGeom prst="rect">
            <a:avLst/>
          </a:prstGeom>
          <a:solidFill>
            <a:srgbClr val="C0392B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93192" y="3602736"/>
            <a:ext cx="3877056" cy="329184"/>
          </a:xfrm>
          <a:prstGeom prst="roundRect">
            <a:avLst>
              <a:gd name="adj" fmla="val 13889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" y="3602736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p(x, x±eₖ) = 1/(2d)  pour k = 1,…,d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3192" y="3986784"/>
            <a:ext cx="3877056" cy="365760"/>
          </a:xfrm>
          <a:prstGeom prst="roundRect">
            <a:avLst>
              <a:gd name="adj" fmla="val 12500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" y="3986784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pₓₓ^(2n) = (1/(2π)ᵈ) ∫_{[−π,π]ᵈ} (cos θ₁+…+cos θᵈ)²ⁿ/dᵈ dθ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9768" y="44074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 = 1, 2 : récurrente  (Σ pₓₓ^(2n) = ∞)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9768" y="4645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 ≥ 3 : transitoire  (Σ pₓₓ^(2n) &lt; ∞)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127248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73752" y="321868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4E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d'attente M/M/1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73752" y="3547872"/>
            <a:ext cx="3877056" cy="22860"/>
          </a:xfrm>
          <a:prstGeom prst="rect">
            <a:avLst/>
          </a:prstGeom>
          <a:solidFill>
            <a:srgbClr val="8B4EA6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73752" y="3602736"/>
            <a:ext cx="3877056" cy="329184"/>
          </a:xfrm>
          <a:prstGeom prst="roundRect">
            <a:avLst>
              <a:gd name="adj" fmla="val 13889"/>
            </a:avLst>
          </a:prstGeom>
          <a:solidFill>
            <a:srgbClr val="8B4EA6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965192" y="3602736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λᵢ = λ,  μᵢ = μ (i ≥ 1),  ρ = λ/μ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73752" y="3986784"/>
            <a:ext cx="3877056" cy="329184"/>
          </a:xfrm>
          <a:prstGeom prst="roundRect">
            <a:avLst>
              <a:gd name="adj" fmla="val 13889"/>
            </a:avLst>
          </a:prstGeom>
          <a:solidFill>
            <a:srgbClr val="8B4EA6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965192" y="3986784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&lt; 1  ⟹  π(n) = (1 − ρ) ρⁿ,  n ≥ 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73752" y="4370832"/>
            <a:ext cx="3877056" cy="329184"/>
          </a:xfrm>
          <a:prstGeom prst="roundRect">
            <a:avLst>
              <a:gd name="adj" fmla="val 13889"/>
            </a:avLst>
          </a:prstGeom>
          <a:solidFill>
            <a:srgbClr val="8B4EA6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965192" y="4370832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E_π[N] = ρ/(1−ρ),   Var_π[N] = ρ/(1−ρ)²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10328" y="4754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≥ 1 ⟹ chaîne transiente (ρ &gt; 1) ou rec. nulle (ρ = 1)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SPECTRE, RÉVERSIBILITÉ &amp; ALGORITHMES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114300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7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spectrale (espace d'états fini)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93192" y="1472184"/>
            <a:ext cx="3877056" cy="22860"/>
          </a:xfrm>
          <a:prstGeom prst="rect">
            <a:avLst/>
          </a:prstGeom>
          <a:solidFill>
            <a:srgbClr val="3A7BD5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93192" y="1527048"/>
            <a:ext cx="3877056" cy="347472"/>
          </a:xfrm>
          <a:prstGeom prst="roundRect">
            <a:avLst>
              <a:gd name="adj" fmla="val 13158"/>
            </a:avLst>
          </a:prstGeom>
          <a:solidFill>
            <a:srgbClr val="3A7BD5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527048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Spec(P) = {λ₁ = 1 ≥ λ₂ ≥ … ≥ λ_N ≥ −1}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9293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 réversible (symétrique dans L²(π)) : valeurs propres réelles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" y="2167128"/>
            <a:ext cx="3877056" cy="365760"/>
          </a:xfrm>
          <a:prstGeom prst="roundRect">
            <a:avLst>
              <a:gd name="adj" fmla="val 12500"/>
            </a:avLst>
          </a:prstGeom>
          <a:solidFill>
            <a:srgbClr val="3A7BD5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2167128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spectral : γ★ = 1 − max(λ₂, |λ_N|) &gt; 0  ⟺  ergodique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" y="2587752"/>
            <a:ext cx="3877056" cy="347472"/>
          </a:xfrm>
          <a:prstGeom prst="roundRect">
            <a:avLst>
              <a:gd name="adj" fmla="val 13158"/>
            </a:avLst>
          </a:prstGeom>
          <a:solidFill>
            <a:srgbClr val="3A7BD5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2587752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 Pⁿ(i,·) − π ‖_TV ≤ (1/√π(i)) (1 − γ★)ⁿ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" y="2990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T_mix(ε) ≤ (1/γ★)(log(1/π_min) + log(1/ε))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73752" y="114300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7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Algorithme de Metropolis-Hastings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73752" y="1472184"/>
            <a:ext cx="3877056" cy="22860"/>
          </a:xfrm>
          <a:prstGeom prst="rect">
            <a:avLst/>
          </a:prstGeom>
          <a:solidFill>
            <a:srgbClr val="27855A">
              <a:alpha val="3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1527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Noyau proposé Q(i,j), cible π. Acceptation 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73752" y="1746504"/>
            <a:ext cx="3877056" cy="365760"/>
          </a:xfrm>
          <a:prstGeom prst="roundRect">
            <a:avLst>
              <a:gd name="adj" fmla="val 12500"/>
            </a:avLst>
          </a:prstGeom>
          <a:solidFill>
            <a:srgbClr val="27855A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65192" y="1746504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α(i,j) = min(1, π(j)Q(j,i) / π(i)Q(i,j))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73752" y="2167128"/>
            <a:ext cx="3877056" cy="347472"/>
          </a:xfrm>
          <a:prstGeom prst="roundRect">
            <a:avLst>
              <a:gd name="adj" fmla="val 13158"/>
            </a:avLst>
          </a:prstGeom>
          <a:solidFill>
            <a:srgbClr val="27855A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965192" y="2167128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Noyau MH : P(i,j) = Q(i,j) α(i,j)  pour j ≠ 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10328" y="25694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P(i,i) = 1 − Σⱼ≠ᵢ P(i,j)  (probabilité de rejet)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0328" y="2807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détaillé : π(i) P(i,j) = π(j) P(j,i) ⟹ π stationnaire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3172968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3192" y="32644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Inégalité de Poincaré &amp; Cheeger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3192" y="3593592"/>
            <a:ext cx="3877056" cy="22860"/>
          </a:xfrm>
          <a:prstGeom prst="rect">
            <a:avLst/>
          </a:prstGeom>
          <a:solidFill>
            <a:srgbClr val="C0392B">
              <a:alpha val="3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" y="3648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de Poincaré λ₂ = 1 − gap(P) 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3192" y="3867912"/>
            <a:ext cx="3877056" cy="402336"/>
          </a:xfrm>
          <a:prstGeom prst="roundRect">
            <a:avLst>
              <a:gd name="adj" fmla="val 11364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" y="3867912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Var_π(f) ≤ (1/γ) ℰ(f,f),   ℰ(f,f) = (1/2) Σᵢ,ⱼ π(i)pᵢⱼ(f(j)−f(i))²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93192" y="4325112"/>
            <a:ext cx="3877056" cy="347472"/>
          </a:xfrm>
          <a:prstGeom prst="roundRect">
            <a:avLst>
              <a:gd name="adj" fmla="val 13158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" y="4325112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 de Cheeger : h = min_{S: π(S)≤1/2} Q(S,Sᶜ)/π(S)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3192" y="4727448"/>
            <a:ext cx="3877056" cy="329184"/>
          </a:xfrm>
          <a:prstGeom prst="roundRect">
            <a:avLst>
              <a:gd name="adj" fmla="val 13889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" y="472744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h²/2 ≤ γ★ ≤ 2h  (inégalités de Cheeger)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172968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73752" y="32644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4E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Couplage &amp; distance TV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73752" y="3593592"/>
            <a:ext cx="3877056" cy="22860"/>
          </a:xfrm>
          <a:prstGeom prst="rect">
            <a:avLst/>
          </a:prstGeom>
          <a:solidFill>
            <a:srgbClr val="8B4EA6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73752" y="3648456"/>
            <a:ext cx="3877056" cy="402336"/>
          </a:xfrm>
          <a:prstGeom prst="roundRect">
            <a:avLst>
              <a:gd name="adj" fmla="val 11364"/>
            </a:avLst>
          </a:prstGeom>
          <a:solidFill>
            <a:srgbClr val="8B4EA6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965192" y="3648456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‖μ − ν‖_TV = max_{A⊂E} |μ(A) − ν(A)| = (1/2) Σᵢ |μ(i) − ν(i)|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73752" y="4105656"/>
            <a:ext cx="3877056" cy="365760"/>
          </a:xfrm>
          <a:prstGeom prst="roundRect">
            <a:avLst>
              <a:gd name="adj" fmla="val 12500"/>
            </a:avLst>
          </a:prstGeom>
          <a:solidFill>
            <a:srgbClr val="8B4EA6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965192" y="4105656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‖μ − ν‖_TV = inf{ P(X ≠ Y) : (X,Y) couplage de (μ,ν) }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10328" y="45262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couplage : τ_coup = inf{ n : Xₙ = Yₙ }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73752" y="4764024"/>
            <a:ext cx="3877056" cy="329184"/>
          </a:xfrm>
          <a:prstGeom prst="roundRect">
            <a:avLst>
              <a:gd name="adj" fmla="val 13889"/>
            </a:avLst>
          </a:prstGeom>
          <a:solidFill>
            <a:srgbClr val="8B4EA6">
              <a:alpha val="1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965192" y="4764024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‖Pⁿ(i,·) − π‖_TV ≤ Pᵢ,π(τ_coup &gt; n)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A7BD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C9A84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27855A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Chaînes de Markov — Vue d'ensemble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566160" y="1874520"/>
            <a:ext cx="2011680" cy="1188720"/>
          </a:xfrm>
          <a:prstGeom prst="ellipse">
            <a:avLst/>
          </a:prstGeom>
          <a:solidFill>
            <a:srgbClr val="C9A84C"/>
          </a:solidFill>
          <a:ln/>
          <a:effectLst>
            <a:outerShdw sx="100000" sy="100000" kx="0" ky="0" algn="bl" rotWithShape="0" blurRad="254000" dist="50800" dir="2700000">
              <a:srgbClr val="C9A84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874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Chaîne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Markov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2344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3A7BD5">
              <a:alpha val="80000"/>
            </a:srgbClr>
          </a:solidFill>
          <a:ln w="12700">
            <a:solidFill>
              <a:srgbClr val="3A7BD5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Propriété de Markov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" y="163677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P(Xₙ₊₁=j|ℱₙ) = pᵢⱼ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0" y="12344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27855A">
              <a:alpha val="80000"/>
            </a:srgbClr>
          </a:solidFill>
          <a:ln w="12700">
            <a:solidFill>
              <a:srgbClr val="27855A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Irréductibilité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31152" y="163677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∀i,j : pᵢⱼ^(n) &gt; 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26974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743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Récurrence positive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" y="309981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mᵢ = Eᵢ[Tᵢ] &lt; ∞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0" y="26974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8B4EA6">
              <a:alpha val="80000"/>
            </a:srgbClr>
          </a:solidFill>
          <a:ln w="12700">
            <a:solidFill>
              <a:srgbClr val="8B4EA6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2743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Apériodicité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31152" y="309981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d(i) = pgcd{n: pᵢᵢ^(n)&gt;0} = 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463040" y="4069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3A7BD5">
              <a:alpha val="80000"/>
            </a:srgbClr>
          </a:solidFill>
          <a:ln w="12700">
            <a:solidFill>
              <a:srgbClr val="3A7BD5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5448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 invariante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36192" y="447141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πP = π,  π(i) = 1/mᵢ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20440" y="4069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27855A">
              <a:alpha val="80000"/>
            </a:srgbClr>
          </a:solidFill>
          <a:ln w="12700">
            <a:solidFill>
              <a:srgbClr val="27855A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1188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Th. ergodique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93592" y="447141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(1/n)Σf(Xₖ) → π(f) p.s.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77840" y="4069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8B4EA6">
              <a:alpha val="80000"/>
            </a:srgbClr>
          </a:solidFill>
          <a:ln w="12700">
            <a:solidFill>
              <a:srgbClr val="8B4EA6"/>
            </a:solidFill>
            <a:prstDash val="solid"/>
          </a:ln>
          <a:effectLst>
            <a:outerShdw sx="100000" sy="100000" kx="0" ky="0" algn="bl" rotWithShape="0" blurRad="101600" dist="25400" dir="2700000">
              <a:srgbClr val="1B2A4A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TV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50992" y="447141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‖Pⁿ(i,·)−π‖_TV → 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377440" y="17830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623560" y="17830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377440" y="3246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23560" y="3246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Irréductible + Récurrente positive + Apériodique  ⟹  Chaîne ERGODIQUE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Chaînes de Markov — Récapitulatif</dc:title>
  <dc:subject>PptxGenJS Presentation</dc:subject>
  <dc:creator>PptxGenJS</dc:creator>
  <cp:lastModifiedBy>PptxGenJS</cp:lastModifiedBy>
  <cp:revision>1</cp:revision>
  <dcterms:created xsi:type="dcterms:W3CDTF">2026-06-29T12:15:04Z</dcterms:created>
  <dcterms:modified xsi:type="dcterms:W3CDTF">2026-06-29T12:15:04Z</dcterms:modified>
</cp:coreProperties>
</file>